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5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371600"/>
            <a:ext cx="4572000" cy="4572000"/>
          </a:xfrm>
          <a:prstGeom prst="ellipse">
            <a:avLst/>
          </a:prstGeom>
          <a:solidFill>
            <a:srgbClr val="6C63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572000"/>
            <a:ext cx="4114800" cy="4114800"/>
          </a:xfrm>
          <a:prstGeom prst="ellipse">
            <a:avLst/>
          </a:prstGeom>
          <a:solidFill>
            <a:srgbClr val="22D3EE">
              <a:alpha val="30000"/>
            </a:srgbClr>
          </a:solidFill>
          <a:ln/>
        </p:spPr>
      </p:sp>
      <p:pic>
        <p:nvPicPr>
          <p:cNvPr id="4" name="Image 0" descr="public/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9144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377440"/>
            <a:ext cx="1218895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KIDO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0" y="338328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C5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Safe, Agentic AI Learning Ecosystem for Children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0" y="397764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7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Technical &amp; Business Writing — Final Presentation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0" y="4937760"/>
            <a:ext cx="121889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A9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CSC-4101 Artificial Intelligence  ·  BSCS-6D  ·  SZABIST University, Karachi
</a:t>
            </a:r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Team: Farhan (Lead) · Zubair Khan · Syed Muhammad Asghar · Chaudhary Saboor Munir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0" y="612648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Live: kido-orcin.vercel.app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6C63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41148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 — Pakistan's Learning Gap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298448" y="1097280"/>
            <a:ext cx="2011680" cy="54864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371600"/>
            <a:ext cx="649224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One-size-fits-all curriculum ignores each child's pace, style &amp; strengths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 engagement → boredom, short attention, high dropout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real-time feedback — students wait days for correction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Safety risks — inappropriate content, cyberbullying, unmonitored social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unified progress view for parents and teachers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406640" y="1463040"/>
            <a:ext cx="4206240" cy="914400"/>
          </a:xfrm>
          <a:prstGeom prst="roundRect">
            <a:avLst>
              <a:gd name="adj" fmla="val 8000"/>
            </a:avLst>
          </a:prstGeom>
          <a:solidFill>
            <a:srgbClr val="F0EFFF"/>
          </a:solidFill>
          <a:ln/>
        </p:spPr>
      </p:sp>
      <p:sp>
        <p:nvSpPr>
          <p:cNvPr id="8" name="Text 6"/>
          <p:cNvSpPr/>
          <p:nvPr/>
        </p:nvSpPr>
        <p:spPr>
          <a:xfrm>
            <a:off x="7543800" y="1463040"/>
            <a:ext cx="1280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73%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869680" y="14630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digital tools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406640" y="2542032"/>
            <a:ext cx="4206240" cy="914400"/>
          </a:xfrm>
          <a:prstGeom prst="roundRect">
            <a:avLst>
              <a:gd name="adj" fmla="val 8000"/>
            </a:avLst>
          </a:prstGeom>
          <a:solidFill>
            <a:srgbClr val="F0EFFF"/>
          </a:solidFill>
          <a:ln/>
        </p:spPr>
      </p:sp>
      <p:sp>
        <p:nvSpPr>
          <p:cNvPr id="11" name="Text 9"/>
          <p:cNvSpPr/>
          <p:nvPr/>
        </p:nvSpPr>
        <p:spPr>
          <a:xfrm>
            <a:off x="7543800" y="2542032"/>
            <a:ext cx="1280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869680" y="2542032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 engagement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406640" y="3621024"/>
            <a:ext cx="4206240" cy="914400"/>
          </a:xfrm>
          <a:prstGeom prst="roundRect">
            <a:avLst>
              <a:gd name="adj" fmla="val 8000"/>
            </a:avLst>
          </a:prstGeom>
          <a:solidFill>
            <a:srgbClr val="F0EFFF"/>
          </a:solidFill>
          <a:ln/>
        </p:spPr>
      </p:sp>
      <p:sp>
        <p:nvSpPr>
          <p:cNvPr id="14" name="Text 12"/>
          <p:cNvSpPr/>
          <p:nvPr/>
        </p:nvSpPr>
        <p:spPr>
          <a:xfrm>
            <a:off x="7543800" y="3621024"/>
            <a:ext cx="1280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869680" y="3621024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Dropout factor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406640" y="4700016"/>
            <a:ext cx="4206240" cy="914400"/>
          </a:xfrm>
          <a:prstGeom prst="roundRect">
            <a:avLst>
              <a:gd name="adj" fmla="val 8000"/>
            </a:avLst>
          </a:prstGeom>
          <a:solidFill>
            <a:srgbClr val="F0EFFF"/>
          </a:solidFill>
          <a:ln/>
        </p:spPr>
      </p:sp>
      <p:sp>
        <p:nvSpPr>
          <p:cNvPr id="17" name="Text 15"/>
          <p:cNvSpPr/>
          <p:nvPr/>
        </p:nvSpPr>
        <p:spPr>
          <a:xfrm>
            <a:off x="7543800" y="4700016"/>
            <a:ext cx="1280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80%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869680" y="4700016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real-time feedback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KIDO · CSC-4101 Artificial Intelligence · SZABIST University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6C63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41148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Solution — KIDO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298448" y="1097280"/>
            <a:ext cx="2011680" cy="54864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3258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multi-layered AI platform combining adaptive learning, gamification, parental oversight, teacher tools, and autonomous AI agents — in one safe mobile + web experience.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2103120" cy="3108960"/>
          </a:xfrm>
          <a:prstGeom prst="roundRect">
            <a:avLst>
              <a:gd name="adj" fmla="val 3478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377440"/>
            <a:ext cx="73152" cy="310896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48716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Adaptive AI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2880360"/>
            <a:ext cx="178308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 adjusts difficulty &amp; content in real time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788920" y="2377440"/>
            <a:ext cx="2103120" cy="3108960"/>
          </a:xfrm>
          <a:prstGeom prst="roundRect">
            <a:avLst>
              <a:gd name="adj" fmla="val 3478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88920" y="2377440"/>
            <a:ext cx="73152" cy="3108960"/>
          </a:xfrm>
          <a:prstGeom prst="rect">
            <a:avLst/>
          </a:prstGeom>
          <a:solidFill>
            <a:srgbClr val="3F3D9E"/>
          </a:solidFill>
          <a:ln/>
        </p:spPr>
      </p:sp>
      <p:sp>
        <p:nvSpPr>
          <p:cNvPr id="13" name="Text 11"/>
          <p:cNvSpPr/>
          <p:nvPr/>
        </p:nvSpPr>
        <p:spPr>
          <a:xfrm>
            <a:off x="2971800" y="248716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D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🏆 Gamification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71800" y="2880360"/>
            <a:ext cx="178308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XP, levels, badges, streaks &amp; leaderboards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0" y="2377440"/>
            <a:ext cx="2103120" cy="3108960"/>
          </a:xfrm>
          <a:prstGeom prst="roundRect">
            <a:avLst>
              <a:gd name="adj" fmla="val 3478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0" y="2377440"/>
            <a:ext cx="73152" cy="310896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7" name="Text 15"/>
          <p:cNvSpPr/>
          <p:nvPr/>
        </p:nvSpPr>
        <p:spPr>
          <a:xfrm>
            <a:off x="5212080" y="248716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🛡️ Parent Control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12080" y="2880360"/>
            <a:ext cx="178308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Consent, screen-time &amp; content oversight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269480" y="2377440"/>
            <a:ext cx="2103120" cy="3108960"/>
          </a:xfrm>
          <a:prstGeom prst="roundRect">
            <a:avLst>
              <a:gd name="adj" fmla="val 3478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69480" y="2377440"/>
            <a:ext cx="73152" cy="3108960"/>
          </a:xfrm>
          <a:prstGeom prst="rect">
            <a:avLst/>
          </a:prstGeom>
          <a:solidFill>
            <a:srgbClr val="3F3D9E"/>
          </a:solidFill>
          <a:ln/>
        </p:spPr>
      </p:sp>
      <p:sp>
        <p:nvSpPr>
          <p:cNvPr id="21" name="Text 19"/>
          <p:cNvSpPr/>
          <p:nvPr/>
        </p:nvSpPr>
        <p:spPr>
          <a:xfrm>
            <a:off x="7452360" y="248716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D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👩‍🏫 Teacher Tools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452360" y="2880360"/>
            <a:ext cx="178308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Classrooms, lessons &amp; progress tracking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509760" y="2377440"/>
            <a:ext cx="2103120" cy="3108960"/>
          </a:xfrm>
          <a:prstGeom prst="roundRect">
            <a:avLst>
              <a:gd name="adj" fmla="val 3478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509760" y="2377440"/>
            <a:ext cx="73152" cy="310896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25" name="Text 23"/>
          <p:cNvSpPr/>
          <p:nvPr/>
        </p:nvSpPr>
        <p:spPr>
          <a:xfrm>
            <a:off x="9692640" y="248716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🤖 Agentic AI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692640" y="2880360"/>
            <a:ext cx="178308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Autonomous agents observe → act → learn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KIDO · CSC-4101 Artificial Intelligence · SZABIST University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6C63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41148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Features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298448" y="1097280"/>
            <a:ext cx="2011680" cy="54864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46304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63040"/>
            <a:ext cx="73152" cy="21031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57276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📚 Adaptive Quizzes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1965960"/>
            <a:ext cx="32461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AI-generated, difficulty scales with score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97680" y="146304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0" y="1463040"/>
            <a:ext cx="73152" cy="2103120"/>
          </a:xfrm>
          <a:prstGeom prst="rect">
            <a:avLst/>
          </a:prstGeom>
          <a:solidFill>
            <a:srgbClr val="3F3D9E"/>
          </a:solidFill>
          <a:ln/>
        </p:spPr>
      </p:sp>
      <p:sp>
        <p:nvSpPr>
          <p:cNvPr id="12" name="Text 10"/>
          <p:cNvSpPr/>
          <p:nvPr/>
        </p:nvSpPr>
        <p:spPr>
          <a:xfrm>
            <a:off x="4480560" y="157276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D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AI Tutor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80560" y="1965960"/>
            <a:ext cx="32461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Multi-session, step-by-step, age-tuned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0" y="146304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0" y="1463040"/>
            <a:ext cx="73152" cy="21031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157276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🎮 AI Games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0" y="1965960"/>
            <a:ext cx="32461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Word, story &amp; math challenges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79476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794760"/>
            <a:ext cx="73152" cy="2103120"/>
          </a:xfrm>
          <a:prstGeom prst="rect">
            <a:avLst/>
          </a:prstGeom>
          <a:solidFill>
            <a:srgbClr val="3F3D9E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90448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D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▶️ Safe Video Library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1520" y="4297680"/>
            <a:ext cx="32461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Age-gated, searchable, parent-safe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297680" y="379476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97680" y="3794760"/>
            <a:ext cx="73152" cy="21031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24" name="Text 22"/>
          <p:cNvSpPr/>
          <p:nvPr/>
        </p:nvSpPr>
        <p:spPr>
          <a:xfrm>
            <a:off x="4480560" y="390448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👥 Approved Friends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480560" y="4297680"/>
            <a:ext cx="32461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Social only after parent consent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046720" y="379476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0" y="3794760"/>
            <a:ext cx="73152" cy="2103120"/>
          </a:xfrm>
          <a:prstGeom prst="rect">
            <a:avLst/>
          </a:prstGeom>
          <a:solidFill>
            <a:srgbClr val="3F3D9E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390448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D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📊 Progress Dashboards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29600" y="4297680"/>
            <a:ext cx="32461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for kids, parents, teachers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KIDO · CSC-4101 Artificial Intelligence · SZABIST University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6C63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41148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AI System (Multi-Agent Workflow)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298448" y="1097280"/>
            <a:ext cx="2011680" cy="54864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Unlike rule-based engines, KIDO's agents run a true reasoning loop: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2011680" cy="822960"/>
          </a:xfrm>
          <a:prstGeom prst="roundRect">
            <a:avLst>
              <a:gd name="adj" fmla="val 11111"/>
            </a:avLst>
          </a:prstGeom>
          <a:solidFill>
            <a:srgbClr val="6C63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82880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OBSERVE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633472" y="1828800"/>
            <a:ext cx="3108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926080" y="1828800"/>
            <a:ext cx="2011680" cy="822960"/>
          </a:xfrm>
          <a:prstGeom prst="roundRect">
            <a:avLst>
              <a:gd name="adj" fmla="val 11111"/>
            </a:avLst>
          </a:prstGeom>
          <a:solidFill>
            <a:srgbClr val="8B5CF6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182880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ANALYZE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19472" y="1828800"/>
            <a:ext cx="3108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212080" y="1828800"/>
            <a:ext cx="2011680" cy="822960"/>
          </a:xfrm>
          <a:prstGeom prst="roundRect">
            <a:avLst>
              <a:gd name="adj" fmla="val 11111"/>
            </a:avLst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5212080" y="182880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205472" y="1828800"/>
            <a:ext cx="3108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498080" y="1828800"/>
            <a:ext cx="2011680" cy="822960"/>
          </a:xfrm>
          <a:prstGeom prst="roundRect">
            <a:avLst>
              <a:gd name="adj" fmla="val 11111"/>
            </a:avLst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0" y="182880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491472" y="1828800"/>
            <a:ext cx="3108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784080" y="1828800"/>
            <a:ext cx="2011680" cy="822960"/>
          </a:xfrm>
          <a:prstGeom prst="roundRect">
            <a:avLst>
              <a:gd name="adj" fmla="val 11111"/>
            </a:avLst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9784080" y="182880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3017520"/>
            <a:ext cx="3566160" cy="1234440"/>
          </a:xfrm>
          <a:prstGeom prst="roundRect">
            <a:avLst>
              <a:gd name="adj" fmla="val 5926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017520"/>
            <a:ext cx="73152" cy="123444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12724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Learning Agent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31520" y="352044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Tracks mastery, builds learning paths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297680" y="3017520"/>
            <a:ext cx="3566160" cy="1234440"/>
          </a:xfrm>
          <a:prstGeom prst="roundRect">
            <a:avLst>
              <a:gd name="adj" fmla="val 5926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97680" y="3017520"/>
            <a:ext cx="73152" cy="1234440"/>
          </a:xfrm>
          <a:prstGeom prst="rect">
            <a:avLst/>
          </a:prstGeom>
          <a:solidFill>
            <a:srgbClr val="3F3D9E"/>
          </a:solidFill>
          <a:ln/>
        </p:spPr>
      </p:sp>
      <p:sp>
        <p:nvSpPr>
          <p:cNvPr id="27" name="Text 25"/>
          <p:cNvSpPr/>
          <p:nvPr/>
        </p:nvSpPr>
        <p:spPr>
          <a:xfrm>
            <a:off x="4480560" y="312724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D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Engagement Agent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480560" y="352044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Detects boredom, switches format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046720" y="3017520"/>
            <a:ext cx="3566160" cy="1234440"/>
          </a:xfrm>
          <a:prstGeom prst="roundRect">
            <a:avLst>
              <a:gd name="adj" fmla="val 5926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46720" y="3017520"/>
            <a:ext cx="73152" cy="123444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0" y="312724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Safety Agent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229600" y="352044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Screens messages &amp; social patterns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8640" y="4434840"/>
            <a:ext cx="3566160" cy="1234440"/>
          </a:xfrm>
          <a:prstGeom prst="roundRect">
            <a:avLst>
              <a:gd name="adj" fmla="val 5926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4434840"/>
            <a:ext cx="73152" cy="1234440"/>
          </a:xfrm>
          <a:prstGeom prst="rect">
            <a:avLst/>
          </a:prstGeom>
          <a:solidFill>
            <a:srgbClr val="3F3D9E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454456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D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Behavior Analyst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31520" y="493776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Detects burnout &amp; mood trends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297680" y="4434840"/>
            <a:ext cx="3566160" cy="1234440"/>
          </a:xfrm>
          <a:prstGeom prst="roundRect">
            <a:avLst>
              <a:gd name="adj" fmla="val 5926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297680" y="4434840"/>
            <a:ext cx="73152" cy="123444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39" name="Text 37"/>
          <p:cNvSpPr/>
          <p:nvPr/>
        </p:nvSpPr>
        <p:spPr>
          <a:xfrm>
            <a:off x="4480560" y="454456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Parent Assistant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4480560" y="493776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Weekly insights &amp; smart alerts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8046720" y="4434840"/>
            <a:ext cx="3566160" cy="1234440"/>
          </a:xfrm>
          <a:prstGeom prst="roundRect">
            <a:avLst>
              <a:gd name="adj" fmla="val 5926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46720" y="4434840"/>
            <a:ext cx="73152" cy="1234440"/>
          </a:xfrm>
          <a:prstGeom prst="rect">
            <a:avLst/>
          </a:prstGeom>
          <a:solidFill>
            <a:srgbClr val="3F3D9E"/>
          </a:solidFill>
          <a:ln/>
        </p:spPr>
      </p:sp>
      <p:sp>
        <p:nvSpPr>
          <p:cNvPr id="43" name="Text 41"/>
          <p:cNvSpPr/>
          <p:nvPr/>
        </p:nvSpPr>
        <p:spPr>
          <a:xfrm>
            <a:off x="8229600" y="454456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D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Content Moderation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229600" y="493776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Scans content before it reaches a child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KIDO · CSC-4101 Artificial Intelligence · SZABIST University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6C63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41148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298448" y="1097280"/>
            <a:ext cx="2011680" cy="54864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41732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3F3D9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4173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Presentation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108960" y="1417320"/>
            <a:ext cx="8503920" cy="822960"/>
          </a:xfrm>
          <a:prstGeom prst="roundRect">
            <a:avLst>
              <a:gd name="adj" fmla="val 6667"/>
            </a:avLst>
          </a:prstGeom>
          <a:solidFill>
            <a:srgbClr val="F0EFFF"/>
          </a:solidFill>
          <a:ln/>
        </p:spPr>
      </p:sp>
      <p:sp>
        <p:nvSpPr>
          <p:cNvPr id="9" name="Text 7"/>
          <p:cNvSpPr/>
          <p:nvPr/>
        </p:nvSpPr>
        <p:spPr>
          <a:xfrm>
            <a:off x="3291840" y="14173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 App · Child · Parent · Teacher portals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3F3D9E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3774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Gateway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108960" y="2377440"/>
            <a:ext cx="8503920" cy="822960"/>
          </a:xfrm>
          <a:prstGeom prst="roundRect">
            <a:avLst>
              <a:gd name="adj" fmla="val 6667"/>
            </a:avLst>
          </a:prstGeom>
          <a:solidFill>
            <a:srgbClr val="F0EFFF"/>
          </a:solidFill>
          <a:ln/>
        </p:spPr>
      </p:sp>
      <p:sp>
        <p:nvSpPr>
          <p:cNvPr id="13" name="Text 11"/>
          <p:cNvSpPr/>
          <p:nvPr/>
        </p:nvSpPr>
        <p:spPr>
          <a:xfrm>
            <a:off x="3291840" y="23774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APIs · JWT Auth · Rate Limiting · WebSocket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33756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3F3D9E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33756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Logic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108960" y="3337560"/>
            <a:ext cx="8503920" cy="822960"/>
          </a:xfrm>
          <a:prstGeom prst="roundRect">
            <a:avLst>
              <a:gd name="adj" fmla="val 6667"/>
            </a:avLst>
          </a:prstGeom>
          <a:solidFill>
            <a:srgbClr val="F0EFFF"/>
          </a:solidFill>
          <a:ln/>
        </p:spPr>
      </p:sp>
      <p:sp>
        <p:nvSpPr>
          <p:cNvPr id="17" name="Text 15"/>
          <p:cNvSpPr/>
          <p:nvPr/>
        </p:nvSpPr>
        <p:spPr>
          <a:xfrm>
            <a:off x="3291840" y="3337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Quiz · Streak · Social · Content services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29768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3F3D9E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29768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Engine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108960" y="4297680"/>
            <a:ext cx="8503920" cy="822960"/>
          </a:xfrm>
          <a:prstGeom prst="roundRect">
            <a:avLst>
              <a:gd name="adj" fmla="val 6667"/>
            </a:avLst>
          </a:prstGeom>
          <a:solidFill>
            <a:srgbClr val="F0EFFF"/>
          </a:solidFill>
          <a:ln/>
        </p:spPr>
      </p:sp>
      <p:sp>
        <p:nvSpPr>
          <p:cNvPr id="21" name="Text 19"/>
          <p:cNvSpPr/>
          <p:nvPr/>
        </p:nvSpPr>
        <p:spPr>
          <a:xfrm>
            <a:off x="3291840" y="42976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Personalization · Behavior · Safety · Reports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525780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3F3D9E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52578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Layer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108960" y="5257800"/>
            <a:ext cx="8503920" cy="822960"/>
          </a:xfrm>
          <a:prstGeom prst="roundRect">
            <a:avLst>
              <a:gd name="adj" fmla="val 6667"/>
            </a:avLst>
          </a:prstGeom>
          <a:solidFill>
            <a:srgbClr val="F0EFFF"/>
          </a:solidFill>
          <a:ln/>
        </p:spPr>
      </p:sp>
      <p:sp>
        <p:nvSpPr>
          <p:cNvPr id="25" name="Text 23"/>
          <p:cNvSpPr/>
          <p:nvPr/>
        </p:nvSpPr>
        <p:spPr>
          <a:xfrm>
            <a:off x="3291840" y="52578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· Redis Cache · File Storage · Event Log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KIDO · CSC-4101 Artificial Intelligence · SZABIST University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6C63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41148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Stack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298448" y="1097280"/>
            <a:ext cx="2011680" cy="54864"/>
          </a:xfrm>
          <a:prstGeom prst="rect">
            <a:avLst/>
          </a:prstGeom>
          <a:solidFill>
            <a:srgbClr val="FFD700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840480"/>
                <a:gridCol w="48463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Layer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3D9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Technology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3D9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Purpose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3D9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Frontend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Flutter / Web (Next.js)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Cross-platform app + responsive web/PWA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Backend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REST API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Async APIs, auth, business logic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Database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PostgreSQL + Redis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Relational data + real-time caching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Auth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JWT + Bcrypt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Role-based: parent/child/teacher/admin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/ ML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LLM + Scikit-learn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Tutor, quizzes, agents, personalization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Deployment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Docker · Vercel / Render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Containerized CI/CD + installable APK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KIDO · CSC-4101 Artificial Intelligence · SZABIST University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6C63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41148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Safety, Privacy &amp; Compliance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298448" y="1097280"/>
            <a:ext cx="2011680" cy="54864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4630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63040"/>
            <a:ext cx="73152" cy="201168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57276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Parental Consent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1965960"/>
            <a:ext cx="32461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Friends &amp; classrooms activate ONLY after a parent approves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97680" y="14630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0" y="1463040"/>
            <a:ext cx="73152" cy="20116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480560" y="157276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🎚️ Age-Gated Content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80560" y="1965960"/>
            <a:ext cx="32461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child sees only age-appropriate material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0" y="14630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0" y="1463040"/>
            <a:ext cx="73152" cy="201168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157276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🧹 Content Moderation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0" y="1965960"/>
            <a:ext cx="32461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Messages &amp; content screened for unsafe language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70332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703320"/>
            <a:ext cx="73152" cy="20116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81304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🗄️ Data Minimization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1520" y="4206240"/>
            <a:ext cx="32461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learning data stored · no ads · no trackers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297680" y="370332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97680" y="3703320"/>
            <a:ext cx="73152" cy="201168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24" name="Text 22"/>
          <p:cNvSpPr/>
          <p:nvPr/>
        </p:nvSpPr>
        <p:spPr>
          <a:xfrm>
            <a:off x="4480560" y="381304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🛡️ COPPA-Aligned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480560" y="4206240"/>
            <a:ext cx="32461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Privacy-by-design for under-15 users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046720" y="370332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0" y="3703320"/>
            <a:ext cx="73152" cy="20116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381304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🔑 Role-Based Access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29600" y="4206240"/>
            <a:ext cx="32461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Server-side guard blocks cross-account data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KIDO · CSC-4101 Artificial Intelligence · SZABIST University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6C63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41148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Product &amp; Demo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298448" y="1097280"/>
            <a:ext cx="2011680" cy="54864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371600"/>
            <a:ext cx="48463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Deployed &amp; live: kido-orcin.vercel.app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Installable PWA + signed Android APK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 AI tutor, quizzes, games &amp; videos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Parent / teacher / child experiences</a:t>
            </a:r>
            <a:endParaRPr lang="en-US" sz="1500" dirty="0"/>
          </a:p>
        </p:txBody>
      </p:sp>
      <p:pic>
        <p:nvPicPr>
          <p:cNvPr id="7" name="Image 0" descr="docs/screenshots/kid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1371600"/>
            <a:ext cx="3017520" cy="1920240"/>
          </a:xfrm>
          <a:prstGeom prst="rect">
            <a:avLst/>
          </a:prstGeom>
        </p:spPr>
      </p:pic>
      <p:pic>
        <p:nvPicPr>
          <p:cNvPr id="8" name="Image 1" descr="docs/screenshots/tut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371600"/>
            <a:ext cx="2926080" cy="1828800"/>
          </a:xfrm>
          <a:prstGeom prst="rect">
            <a:avLst/>
          </a:prstGeom>
        </p:spPr>
      </p:pic>
      <p:pic>
        <p:nvPicPr>
          <p:cNvPr id="9" name="Image 2" descr="docs/screenshots/video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3474720"/>
            <a:ext cx="3017520" cy="1920240"/>
          </a:xfrm>
          <a:prstGeom prst="rect">
            <a:avLst/>
          </a:prstGeom>
        </p:spPr>
      </p:pic>
      <p:pic>
        <p:nvPicPr>
          <p:cNvPr id="10" name="Image 3" descr="docs/screenshots/parent-dash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3474720"/>
            <a:ext cx="2926080" cy="18288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KIDO · CSC-4101 Artificial Intelligence · SZABIST University</a:t>
            </a:r>
            <a:endParaRPr lang="en-US" sz="900" dirty="0"/>
          </a:p>
        </p:txBody>
      </p:sp>
      <p:sp>
        <p:nvSpPr>
          <p:cNvPr id="12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6C63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41148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Methodology &amp; Timeline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298448" y="1097280"/>
            <a:ext cx="2011680" cy="54864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Agile, iterative 8-week build with continuous deployment &amp; atomic commits.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920240"/>
            <a:ext cx="73152" cy="155448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02996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W1 Problem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2423160"/>
            <a:ext cx="23317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PEAS · state/action/goal · tasks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64992" y="192024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920240"/>
            <a:ext cx="73152" cy="1554480"/>
          </a:xfrm>
          <a:prstGeom prst="rect">
            <a:avLst/>
          </a:prstGeom>
          <a:solidFill>
            <a:srgbClr val="3F3D9E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2996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D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W2 Research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47872" y="2423160"/>
            <a:ext cx="23317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Child-safety (COPPA) · context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81344" y="192024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81344" y="1920240"/>
            <a:ext cx="73152" cy="155448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7" name="Text 15"/>
          <p:cNvSpPr/>
          <p:nvPr/>
        </p:nvSpPr>
        <p:spPr>
          <a:xfrm>
            <a:off x="6364224" y="202996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W3 Architecture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64224" y="2423160"/>
            <a:ext cx="23317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workflow · data model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997696" y="192024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97696" y="1920240"/>
            <a:ext cx="73152" cy="1554480"/>
          </a:xfrm>
          <a:prstGeom prst="rect">
            <a:avLst/>
          </a:prstGeom>
          <a:solidFill>
            <a:srgbClr val="3F3D9E"/>
          </a:solidFill>
          <a:ln/>
        </p:spPr>
      </p:sp>
      <p:sp>
        <p:nvSpPr>
          <p:cNvPr id="21" name="Text 19"/>
          <p:cNvSpPr/>
          <p:nvPr/>
        </p:nvSpPr>
        <p:spPr>
          <a:xfrm>
            <a:off x="9180576" y="202996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D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W4 Backend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80576" y="2423160"/>
            <a:ext cx="23317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 · APIs · auth guard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365760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657600"/>
            <a:ext cx="73152" cy="155448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76732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W5 AI Integration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31520" y="4160520"/>
            <a:ext cx="23317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Tutor · quizzes · agent pipeline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364992" y="365760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64992" y="3657600"/>
            <a:ext cx="73152" cy="1554480"/>
          </a:xfrm>
          <a:prstGeom prst="rect">
            <a:avLst/>
          </a:prstGeom>
          <a:solidFill>
            <a:srgbClr val="3F3D9E"/>
          </a:solidFill>
          <a:ln/>
        </p:spPr>
      </p:sp>
      <p:sp>
        <p:nvSpPr>
          <p:cNvPr id="29" name="Text 27"/>
          <p:cNvSpPr/>
          <p:nvPr/>
        </p:nvSpPr>
        <p:spPr>
          <a:xfrm>
            <a:off x="3547872" y="376732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D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W6 Safety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47872" y="4160520"/>
            <a:ext cx="23317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Consent · age-gating · isolation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81344" y="365760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81344" y="3657600"/>
            <a:ext cx="73152" cy="155448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33" name="Text 31"/>
          <p:cNvSpPr/>
          <p:nvPr/>
        </p:nvSpPr>
        <p:spPr>
          <a:xfrm>
            <a:off x="6364224" y="376732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W7 Testing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364224" y="4160520"/>
            <a:ext cx="23317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Adversarial &amp; access-control tests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8997696" y="365760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97696" y="3657600"/>
            <a:ext cx="73152" cy="1554480"/>
          </a:xfrm>
          <a:prstGeom prst="rect">
            <a:avLst/>
          </a:prstGeom>
          <a:solidFill>
            <a:srgbClr val="3F3D9E"/>
          </a:solidFill>
          <a:ln/>
        </p:spPr>
      </p:sp>
      <p:sp>
        <p:nvSpPr>
          <p:cNvPr id="37" name="Text 35"/>
          <p:cNvSpPr/>
          <p:nvPr/>
        </p:nvSpPr>
        <p:spPr>
          <a:xfrm>
            <a:off x="9180576" y="376732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D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W8 Submission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180576" y="4160520"/>
            <a:ext cx="23317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· PWA/APK · report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KIDO · CSC-4101 Artificial Intelligence · SZABIST University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6C63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41148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&amp; Contributions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298448" y="1097280"/>
            <a:ext cx="2011680" cy="54864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55448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373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👑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737360" y="17830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Farhan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737360" y="21945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Lead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737360" y="256032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architecture, agentic system, backend &amp; system design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72200" y="155448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17373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🎨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7360920" y="17830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Zubair Khan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60920" y="21945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UI/UX &amp; Frontend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360920" y="256032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system, screens, animations, dashboards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79476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9776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📑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1737360" y="40233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Syed Muhammad Asghar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737360" y="443484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Documentation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737360" y="480060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Research, technical report &amp; presentation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72200" y="379476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55080" y="39776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🧪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7360920" y="40233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Chaudhary Saboor Munir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360920" y="443484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Testing &amp; QA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360920" y="480060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Unit/integration testing, QA, deployment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KIDO · CSC-4101 Artificial Intelligence · SZABIST University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6C63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41148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&amp; Why It Matters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298448" y="1097280"/>
            <a:ext cx="2011680" cy="54864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Closes the personalization gap with real-time adaptive learning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Boosts engagement via game mechanics → better retention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Keeps children safe with parent-gated social &amp; moderation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Empowers parents &amp; teachers with actionable AI insights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scalable EdTech startup concept for Pakistan &amp; South Asia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KIDO · CSC-4101 Artificial Intelligence · SZABIST University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6C63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41148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298448" y="1097280"/>
            <a:ext cx="2011680" cy="54864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4630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63040"/>
            <a:ext cx="73152" cy="201168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57276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Personalization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1965960"/>
            <a:ext cx="32461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Adaptive AI tunes difficulty &amp; content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97680" y="14630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0" y="1463040"/>
            <a:ext cx="73152" cy="2011680"/>
          </a:xfrm>
          <a:prstGeom prst="rect">
            <a:avLst/>
          </a:prstGeom>
          <a:solidFill>
            <a:srgbClr val="3F3D9E"/>
          </a:solidFill>
          <a:ln/>
        </p:spPr>
      </p:sp>
      <p:sp>
        <p:nvSpPr>
          <p:cNvPr id="12" name="Text 10"/>
          <p:cNvSpPr/>
          <p:nvPr/>
        </p:nvSpPr>
        <p:spPr>
          <a:xfrm>
            <a:off x="4480560" y="157276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D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Engagement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80560" y="1965960"/>
            <a:ext cx="32461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XP, badges, streaks &amp; leaderboards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0" y="14630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0" y="1463040"/>
            <a:ext cx="73152" cy="201168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157276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Safety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0" y="1965960"/>
            <a:ext cx="32461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Parental control &amp; COPPA-aligned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70332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703320"/>
            <a:ext cx="73152" cy="2011680"/>
          </a:xfrm>
          <a:prstGeom prst="rect">
            <a:avLst/>
          </a:prstGeom>
          <a:solidFill>
            <a:srgbClr val="3F3D9E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81304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D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Intelligence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1520" y="4206240"/>
            <a:ext cx="32461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Observe → Analyze → Decide → Act → Learn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297680" y="370332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97680" y="3703320"/>
            <a:ext cx="73152" cy="201168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24" name="Text 22"/>
          <p:cNvSpPr/>
          <p:nvPr/>
        </p:nvSpPr>
        <p:spPr>
          <a:xfrm>
            <a:off x="4480560" y="381304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Scalability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480560" y="4206240"/>
            <a:ext cx="32461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Cloud-native, containerized deployment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046720" y="370332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0EFFF"/>
          </a:solidFill>
          <a:ln w="12700">
            <a:solidFill>
              <a:srgbClr val="E3E1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0" y="3703320"/>
            <a:ext cx="73152" cy="2011680"/>
          </a:xfrm>
          <a:prstGeom prst="rect">
            <a:avLst/>
          </a:prstGeom>
          <a:solidFill>
            <a:srgbClr val="3F3D9E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381304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D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Value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29600" y="4206240"/>
            <a:ext cx="32461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working live product — not just a prototype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KIDO · CSC-4101 Artificial Intelligence · SZABIST University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5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3200400"/>
            <a:ext cx="5486400" cy="5486400"/>
          </a:xfrm>
          <a:prstGeom prst="ellipse">
            <a:avLst/>
          </a:prstGeom>
          <a:solidFill>
            <a:srgbClr val="6C63FF">
              <a:alpha val="40000"/>
            </a:srgbClr>
          </a:solidFill>
          <a:ln/>
        </p:spPr>
      </p:sp>
      <p:pic>
        <p:nvPicPr>
          <p:cNvPr id="3" name="Image 0" descr="public/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280160"/>
            <a:ext cx="118872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2651760"/>
            <a:ext cx="121889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0" y="361188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7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&amp; Discussion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0" y="457200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C5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kido-orcin.vercel.app   ·   github.com/FarhanRajputFelix/KIDO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SZABIST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Team KIDO</dc:creator>
  <cp:lastModifiedBy>Team KIDO</cp:lastModifiedBy>
  <cp:revision>1</cp:revision>
  <dcterms:created xsi:type="dcterms:W3CDTF">2026-06-09T18:00:53Z</dcterms:created>
  <dcterms:modified xsi:type="dcterms:W3CDTF">2026-06-09T18:00:53Z</dcterms:modified>
</cp:coreProperties>
</file>